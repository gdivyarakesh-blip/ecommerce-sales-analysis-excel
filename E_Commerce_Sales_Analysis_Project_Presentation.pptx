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Monthly Final Sales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4F81BD"/>
            </a:solidFill>
            <a:ln>
              <a:solidFill>
                <a:srgbClr val="4F81BD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912847</c:v>
                </c:pt>
                <c:pt idx="1">
                  <c:v>1337984</c:v>
                </c:pt>
                <c:pt idx="2">
                  <c:v>1563676</c:v>
                </c:pt>
                <c:pt idx="3">
                  <c:v>1111087.5</c:v>
                </c:pt>
                <c:pt idx="4">
                  <c:v>1123382</c:v>
                </c:pt>
                <c:pt idx="5">
                  <c:v>1562971.5</c:v>
                </c:pt>
                <c:pt idx="6">
                  <c:v>942424</c:v>
                </c:pt>
                <c:pt idx="7">
                  <c:v>1451450</c:v>
                </c:pt>
                <c:pt idx="8">
                  <c:v>1191982.5</c:v>
                </c:pt>
                <c:pt idx="9">
                  <c:v>1196028.5</c:v>
                </c:pt>
                <c:pt idx="10">
                  <c:v>1745374</c:v>
                </c:pt>
                <c:pt idx="11">
                  <c:v>1414591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1E4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Final Sales by Category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4F81BD"/>
            </a:solidFill>
            <a:ln>
              <a:solidFill>
                <a:srgbClr val="4F81BD"/>
              </a:solidFill>
            </a:ln>
          </c:spPr>
          <c:cat>
            <c:strRef>
              <c:f>Sheet1!$A$2:$A$5</c:f>
              <c:strCache>
                <c:ptCount val="4"/>
                <c:pt idx="0">
                  <c:v>Beauty</c:v>
                </c:pt>
                <c:pt idx="1">
                  <c:v>Clothing</c:v>
                </c:pt>
                <c:pt idx="2">
                  <c:v>Electronics</c:v>
                </c:pt>
                <c:pt idx="3">
                  <c:v>Furniture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528950</c:v>
                </c:pt>
                <c:pt idx="1">
                  <c:v>1305680</c:v>
                </c:pt>
                <c:pt idx="2">
                  <c:v>8489402</c:v>
                </c:pt>
                <c:pt idx="3">
                  <c:v>5229766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4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Top Products by Final Sales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68C5B"/>
            </a:solidFill>
            <a:ln>
              <a:solidFill>
                <a:srgbClr val="268C5B"/>
              </a:solidFill>
            </a:ln>
          </c:spPr>
          <c:cat>
            <c:strRef>
              <c:f>Sheet1!$A$2:$A$11</c:f>
              <c:strCache>
                <c:ptCount val="10"/>
                <c:pt idx="0">
                  <c:v>Bluetooth Speaker</c:v>
                </c:pt>
                <c:pt idx="1">
                  <c:v>Bookshelf</c:v>
                </c:pt>
                <c:pt idx="2">
                  <c:v>Headphones</c:v>
                </c:pt>
                <c:pt idx="3">
                  <c:v>Jacket</c:v>
                </c:pt>
                <c:pt idx="4">
                  <c:v>Office Chair</c:v>
                </c:pt>
                <c:pt idx="5">
                  <c:v>Office Desk</c:v>
                </c:pt>
                <c:pt idx="6">
                  <c:v>Smartphone</c:v>
                </c:pt>
                <c:pt idx="7">
                  <c:v>Smartwatch</c:v>
                </c:pt>
                <c:pt idx="8">
                  <c:v>Sofa</c:v>
                </c:pt>
                <c:pt idx="9">
                  <c:v>Tablet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487494</c:v>
                </c:pt>
                <c:pt idx="1">
                  <c:v>759715</c:v>
                </c:pt>
                <c:pt idx="2">
                  <c:v>448700</c:v>
                </c:pt>
                <c:pt idx="3">
                  <c:v>453024</c:v>
                </c:pt>
                <c:pt idx="4">
                  <c:v>710775</c:v>
                </c:pt>
                <c:pt idx="5">
                  <c:v>1000875</c:v>
                </c:pt>
                <c:pt idx="6">
                  <c:v>3909920</c:v>
                </c:pt>
                <c:pt idx="7">
                  <c:v>593300</c:v>
                </c:pt>
                <c:pt idx="8">
                  <c:v>2148120</c:v>
                </c:pt>
                <c:pt idx="9">
                  <c:v>2282500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1E4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/>
            </a:pPr>
            <a:r>
              <a:t>Order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Delivered</c:v>
                </c:pt>
                <c:pt idx="1">
                  <c:v>Cancelled</c:v>
                </c:pt>
                <c:pt idx="2">
                  <c:v>Returned</c:v>
                </c:pt>
                <c:pt idx="3">
                  <c:v>Pending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1046</c:v>
                </c:pt>
                <c:pt idx="1">
                  <c:v>76</c:v>
                </c:pt>
                <c:pt idx="2">
                  <c:v>53</c:v>
                </c:pt>
                <c:pt idx="3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Final Sales by Gender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4F81BD"/>
            </a:solidFill>
            <a:ln>
              <a:solidFill>
                <a:srgbClr val="4F81BD"/>
              </a:solidFill>
            </a:ln>
          </c:spPr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8285078</c:v>
                </c:pt>
                <c:pt idx="1">
                  <c:v>7268720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4E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52B4D"/>
                </a:solidFill>
              </a:defRPr>
            </a:pPr>
            <a:r>
              <a:t>E-Commerce Sales Analysis</a:t>
            </a:r>
          </a:p>
          <a:p>
            <a:pPr>
              <a:defRPr sz="2100">
                <a:solidFill>
                  <a:srgbClr val="66707D"/>
                </a:solidFill>
              </a:defRPr>
            </a:pPr>
            <a:r>
              <a:t>Interactive Excel Dashboard &amp;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2743200"/>
            <a:ext cx="32004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ORDERS ANALYZED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1,200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4160520"/>
            <a:ext cx="320040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FINAL SALES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₹15.55M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40"/>
            <a:ext cx="6583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834"/>
                </a:solidFill>
              </a:defRPr>
            </a:pPr>
            <a:r>
              <a:t>A complete Excel analytics project covering</a:t>
            </a:r>
          </a:p>
          <a:p>
            <a:pPr>
              <a:defRPr sz="1500">
                <a:solidFill>
                  <a:srgbClr val="66707D"/>
                </a:solidFill>
              </a:defRPr>
            </a:pPr>
            <a:r>
              <a:t>data preparation • formulas • PivotTables • charts • KPI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Project Objective &amp;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From raw transactions to decision-ready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834"/>
                </a:solidFill>
              </a:defRPr>
            </a:pPr>
            <a:r>
              <a:t>• Analyze 1,200 e-commerce transactions to understand sales and profitability.</a:t>
            </a:r>
          </a:p>
          <a:p>
            <a:pPr>
              <a:spcAft>
                <a:spcPts val="800"/>
              </a:spcAft>
              <a:defRPr sz="1700">
                <a:solidFill>
                  <a:srgbClr val="202834"/>
                </a:solidFill>
              </a:defRPr>
            </a:pPr>
            <a:r>
              <a:t>• Measure product, category, customer and order-status performance.</a:t>
            </a:r>
          </a:p>
          <a:p>
            <a:pPr>
              <a:spcAft>
                <a:spcPts val="800"/>
              </a:spcAft>
              <a:defRPr sz="1700">
                <a:solidFill>
                  <a:srgbClr val="202834"/>
                </a:solidFill>
              </a:defRPr>
            </a:pPr>
            <a:r>
              <a:t>• Track monthly sales patterns and identify high-performing segments.</a:t>
            </a:r>
          </a:p>
          <a:p>
            <a:pPr>
              <a:spcAft>
                <a:spcPts val="800"/>
              </a:spcAft>
              <a:defRPr sz="1700">
                <a:solidFill>
                  <a:srgbClr val="202834"/>
                </a:solidFill>
              </a:defRPr>
            </a:pPr>
            <a:r>
              <a:t>• Build an interactive Excel dashboard for management-level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2148840" cy="1234440"/>
          </a:xfrm>
          <a:prstGeom prst="roundRect">
            <a:avLst/>
          </a:prstGeom>
          <a:solidFill>
            <a:srgbClr val="E2EDF8"/>
          </a:solidFill>
          <a:ln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81BD"/>
                </a:solidFill>
              </a:defRPr>
            </a:pPr>
            <a:r>
              <a:t>01</a:t>
            </a:r>
          </a:p>
          <a:p>
            <a:pPr algn="ctr">
              <a:defRPr sz="1600" b="1">
                <a:solidFill>
                  <a:srgbClr val="152B4D"/>
                </a:solidFill>
              </a:defRPr>
            </a:pPr>
            <a:r>
              <a:t>Clean</a:t>
            </a:r>
          </a:p>
          <a:p>
            <a:pPr algn="ctr">
              <a:defRPr sz="900">
                <a:solidFill>
                  <a:srgbClr val="66707D"/>
                </a:solidFill>
              </a:defRPr>
            </a:pPr>
            <a:r>
              <a:t>Prepare &amp; 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417320"/>
            <a:ext cx="2148840" cy="1234440"/>
          </a:xfrm>
          <a:prstGeom prst="roundRect">
            <a:avLst/>
          </a:prstGeom>
          <a:solidFill>
            <a:srgbClr val="E2EDF8"/>
          </a:solidFill>
          <a:ln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81BD"/>
                </a:solidFill>
              </a:defRPr>
            </a:pPr>
            <a:r>
              <a:t>02</a:t>
            </a:r>
          </a:p>
          <a:p>
            <a:pPr algn="ctr">
              <a:defRPr sz="1600" b="1">
                <a:solidFill>
                  <a:srgbClr val="152B4D"/>
                </a:solidFill>
              </a:defRPr>
            </a:pPr>
            <a:r>
              <a:t>Calculate</a:t>
            </a:r>
          </a:p>
          <a:p>
            <a:pPr algn="ctr">
              <a:defRPr sz="900">
                <a:solidFill>
                  <a:srgbClr val="66707D"/>
                </a:solidFill>
              </a:defRPr>
            </a:pPr>
            <a:r>
              <a:t>Sales, cost &amp; 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2148840" cy="1234440"/>
          </a:xfrm>
          <a:prstGeom prst="roundRect">
            <a:avLst/>
          </a:prstGeom>
          <a:solidFill>
            <a:srgbClr val="E2EDF8"/>
          </a:solidFill>
          <a:ln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81BD"/>
                </a:solidFill>
              </a:defRPr>
            </a:pPr>
            <a:r>
              <a:t>03</a:t>
            </a:r>
          </a:p>
          <a:p>
            <a:pPr algn="ctr">
              <a:defRPr sz="1600" b="1">
                <a:solidFill>
                  <a:srgbClr val="152B4D"/>
                </a:solidFill>
              </a:defRPr>
            </a:pPr>
            <a:r>
              <a:t>Analyze</a:t>
            </a:r>
          </a:p>
          <a:p>
            <a:pPr algn="ctr">
              <a:defRPr sz="900">
                <a:solidFill>
                  <a:srgbClr val="66707D"/>
                </a:solidFill>
              </a:defRPr>
            </a:pPr>
            <a:r>
              <a:t>PivotTables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3017520"/>
            <a:ext cx="2148840" cy="1234440"/>
          </a:xfrm>
          <a:prstGeom prst="roundRect">
            <a:avLst/>
          </a:prstGeom>
          <a:solidFill>
            <a:srgbClr val="E2EDF8"/>
          </a:solidFill>
          <a:ln>
            <a:solidFill>
              <a:srgbClr val="C3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81BD"/>
                </a:solidFill>
              </a:defRPr>
            </a:pPr>
            <a:r>
              <a:t>04</a:t>
            </a:r>
          </a:p>
          <a:p>
            <a:pPr algn="ctr">
              <a:defRPr sz="1600" b="1">
                <a:solidFill>
                  <a:srgbClr val="152B4D"/>
                </a:solidFill>
              </a:defRPr>
            </a:pPr>
            <a:r>
              <a:t>Visualize</a:t>
            </a:r>
          </a:p>
          <a:p>
            <a:pPr algn="ctr">
              <a:defRPr sz="900">
                <a:solidFill>
                  <a:srgbClr val="66707D"/>
                </a:solidFill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Dataset &amp; Excel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Fields used to derive the final analytical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698480" cy="640080"/>
          </a:xfrm>
          <a:prstGeom prst="roundRect">
            <a:avLst/>
          </a:prstGeom>
          <a:solidFill>
            <a:srgbClr val="F4F6F9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834"/>
                </a:solidFill>
              </a:defRPr>
            </a:pPr>
            <a:r>
              <a:t>Order &amp; Customer  —  Order ID, Date, Customer ID, Customer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698480" cy="640080"/>
          </a:xfrm>
          <a:prstGeom prst="roundRect">
            <a:avLst/>
          </a:prstGeom>
          <a:solidFill>
            <a:srgbClr val="F4F6F9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834"/>
                </a:solidFill>
              </a:defRPr>
            </a:pPr>
            <a:r>
              <a:t>Customer Profile  —  Gender, Age, City,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0698480" cy="640080"/>
          </a:xfrm>
          <a:prstGeom prst="roundRect">
            <a:avLst/>
          </a:prstGeom>
          <a:solidFill>
            <a:srgbClr val="F4F6F9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834"/>
                </a:solidFill>
              </a:defRPr>
            </a:pPr>
            <a:r>
              <a:t>Transaction  —  Category, Product, Quantity, Unit Price, Discount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698480" cy="640080"/>
          </a:xfrm>
          <a:prstGeom prst="roundRect">
            <a:avLst/>
          </a:prstGeom>
          <a:solidFill>
            <a:srgbClr val="F4F6F9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834"/>
                </a:solidFill>
              </a:defRPr>
            </a:pPr>
            <a:r>
              <a:t>Operations  —  Payment Method, Order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698480" cy="640080"/>
          </a:xfrm>
          <a:prstGeom prst="roundRect">
            <a:avLst/>
          </a:prstGeom>
          <a:solidFill>
            <a:srgbClr val="F4F6F9"/>
          </a:solidFill>
          <a:ln>
            <a:solidFill>
              <a:srgbClr val="E1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02834"/>
                </a:solidFill>
              </a:defRPr>
            </a:pPr>
            <a:r>
              <a:t>Derived Metrics  —  Sales Amount, Final Sales, Cost, Total Cost, Profit, Profit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52B4D"/>
                </a:solidFill>
              </a:defRPr>
            </a:pPr>
            <a:r>
              <a:t>Core calculations: Sales Amount = Quantity × Unit Price  |  Final Sales = Sales Amount × (1 − Discount)  |  Profit = Final Sales − Total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Executive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Headline metrics from the completed Excel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103120" cy="13716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Total Orders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1,200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1371600"/>
            <a:ext cx="2103120" cy="13716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Final Sales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₹15.55M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59" y="1371600"/>
            <a:ext cx="2103120" cy="13716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Total Profit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₹3.51M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371600"/>
            <a:ext cx="2103120" cy="13716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Avg Order Value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₹12,961.50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371600"/>
            <a:ext cx="2103120" cy="13716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Profit Margin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22.56%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1828800"/>
          </a:xfrm>
          <a:prstGeom prst="roundRect">
            <a:avLst/>
          </a:prstGeom>
          <a:solidFill>
            <a:srgbClr val="E2EDF8"/>
          </a:solidFill>
          <a:ln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52B4D"/>
                </a:solidFill>
              </a:defRPr>
            </a:pPr>
            <a:r>
              <a:t>KPI interpretation</a:t>
            </a:r>
          </a:p>
          <a:p>
            <a:pPr algn="ctr">
              <a:defRPr sz="1300">
                <a:solidFill>
                  <a:srgbClr val="202834"/>
                </a:solidFill>
              </a:defRPr>
            </a:pPr>
            <a:r>
              <a:t>• 1,200 orders generated ₹15.55M in Final Sales.</a:t>
            </a:r>
          </a:p>
          <a:p>
            <a:pPr algn="ctr">
              <a:defRPr sz="1300">
                <a:solidFill>
                  <a:srgbClr val="202834"/>
                </a:solidFill>
              </a:defRPr>
            </a:pPr>
            <a:r>
              <a:t>• Total Profit is approximately ₹3.51M with a 22.56% overall margin.</a:t>
            </a:r>
          </a:p>
          <a:p>
            <a:pPr algn="ctr">
              <a:defRPr sz="1300">
                <a:solidFill>
                  <a:srgbClr val="202834"/>
                </a:solidFill>
              </a:defRPr>
            </a:pPr>
            <a:r>
              <a:t>• Average Order Value is approximately ₹12.96K.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Sales Performance &amp;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Monthly Final Sales reveal clear peaks and troughs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23444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417320"/>
            <a:ext cx="338328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HIGHEST MONTH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November • ₹1.75M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788920"/>
            <a:ext cx="3383280" cy="1143000"/>
          </a:xfrm>
          <a:prstGeom prst="roundRect">
            <a:avLst/>
          </a:prstGeom>
          <a:solidFill>
            <a:srgbClr val="F4F6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6707D"/>
                </a:solidFill>
              </a:defRPr>
            </a:pPr>
            <a:r>
              <a:t>LOWEST MONTH</a:t>
            </a:r>
          </a:p>
          <a:p>
            <a:pPr algn="ctr">
              <a:defRPr sz="2100" b="1">
                <a:solidFill>
                  <a:srgbClr val="152B4D"/>
                </a:solidFill>
              </a:defRPr>
            </a:pPr>
            <a:r>
              <a:t>July • ₹0.94M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42519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02834"/>
                </a:solidFill>
              </a:defRPr>
            </a:pPr>
            <a:r>
              <a:t>• Sales increased strongly from January to March.</a:t>
            </a:r>
          </a:p>
          <a:p>
            <a:pPr>
              <a:spcAft>
                <a:spcPts val="800"/>
              </a:spcAft>
              <a:defRPr sz="1200">
                <a:solidFill>
                  <a:srgbClr val="202834"/>
                </a:solidFill>
              </a:defRPr>
            </a:pPr>
            <a:r>
              <a:t>• June and November are notable high points.</a:t>
            </a:r>
          </a:p>
          <a:p>
            <a:pPr>
              <a:spcAft>
                <a:spcPts val="800"/>
              </a:spcAft>
              <a:defRPr sz="1200">
                <a:solidFill>
                  <a:srgbClr val="202834"/>
                </a:solidFill>
              </a:defRPr>
            </a:pPr>
            <a:r>
              <a:t>• July is the clearest low point before recovery in August.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Category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Electronics and leading products drive a large share of sales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234440"/>
          <a:ext cx="5577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234440"/>
          <a:ext cx="544068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Customers &amp; Order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Operational distribution and customer contribution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234440"/>
          <a:ext cx="38404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480560" y="1234440"/>
          <a:ext cx="338328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5087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02834"/>
                </a:solidFill>
              </a:defRPr>
            </a:pPr>
            <a:r>
              <a:t>• Delivered: 1,046 orders (87.2%)</a:t>
            </a:r>
          </a:p>
          <a:p>
            <a:pPr>
              <a:spcAft>
                <a:spcPts val="800"/>
              </a:spcAft>
              <a:defRPr sz="1300">
                <a:solidFill>
                  <a:srgbClr val="202834"/>
                </a:solidFill>
              </a:defRPr>
            </a:pPr>
            <a:r>
              <a:t>• Cancelled: 76 orders (6.3%)</a:t>
            </a:r>
          </a:p>
          <a:p>
            <a:pPr>
              <a:spcAft>
                <a:spcPts val="800"/>
              </a:spcAft>
              <a:defRPr sz="1300">
                <a:solidFill>
                  <a:srgbClr val="202834"/>
                </a:solidFill>
              </a:defRPr>
            </a:pPr>
            <a:r>
              <a:t>• Returned: 53 orders (4.4%)</a:t>
            </a:r>
          </a:p>
          <a:p>
            <a:pPr>
              <a:spcAft>
                <a:spcPts val="800"/>
              </a:spcAft>
              <a:defRPr sz="1300">
                <a:solidFill>
                  <a:srgbClr val="202834"/>
                </a:solidFill>
              </a:defRPr>
            </a:pPr>
            <a:r>
              <a:t>• Pending: 25 orders (2.1%)</a:t>
            </a:r>
          </a:p>
          <a:p>
            <a:pPr>
              <a:spcAft>
                <a:spcPts val="800"/>
              </a:spcAft>
              <a:defRPr sz="1300">
                <a:solidFill>
                  <a:srgbClr val="202834"/>
                </a:solidFill>
              </a:defRPr>
            </a:pPr>
            <a:r>
              <a:t>• Male customer sales: ₹8.29M</a:t>
            </a:r>
          </a:p>
          <a:p>
            <a:pPr>
              <a:spcAft>
                <a:spcPts val="800"/>
              </a:spcAft>
              <a:defRPr sz="1300">
                <a:solidFill>
                  <a:srgbClr val="202834"/>
                </a:solidFill>
              </a:defRPr>
            </a:pPr>
            <a:r>
              <a:t>• Female customer sales: ₹7.27M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Decision-oriented observations from the completed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1,200 orders were analyzed, generating ₹15.55M in Final Sales.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Electronics generated the highest Final Sales at approximately ₹8.49M.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November recorded the highest monthly Final Sales at approximately ₹1.75M.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Smartphone was the highest-selling product at approximately ₹3.91M in Final Sales.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Delivered orders represented 87.2% of all orders.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The business generated approximately ₹3.51M profit at a 22.56% overall margin.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Male customers contributed ₹8.29M, while female customers contributed ₹7.27M in Final 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623560"/>
            <a:ext cx="10698480" cy="502920"/>
          </a:xfrm>
          <a:prstGeom prst="roundRect">
            <a:avLst/>
          </a:prstGeom>
          <a:solidFill>
            <a:srgbClr val="15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Overall takeaway: one dashboard connects sales, products, operations and profitability.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52B4D"/>
                </a:solidFill>
                <a:latin typeface="Aptos Display"/>
              </a:defRPr>
            </a:pPr>
            <a:r>
              <a:t>Dashboard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707D"/>
                </a:solidFill>
              </a:defRPr>
            </a:pPr>
            <a:r>
              <a:t>How the workbook transforms raw data into an analytical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965960" cy="1417320"/>
          </a:xfrm>
          <a:prstGeom prst="roundRect">
            <a:avLst/>
          </a:prstGeom>
          <a:solidFill>
            <a:srgbClr val="E2ED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52B4D"/>
                </a:solidFill>
              </a:defRPr>
            </a:pPr>
            <a:r>
              <a:t>RAW DATA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1,200 transactions</a:t>
            </a:r>
          </a:p>
        </p:txBody>
      </p:sp>
      <p:sp>
        <p:nvSpPr>
          <p:cNvPr id="6" name="Chevron 5"/>
          <p:cNvSpPr/>
          <p:nvPr/>
        </p:nvSpPr>
        <p:spPr>
          <a:xfrm>
            <a:off x="2404872" y="2240280"/>
            <a:ext cx="320040" cy="502920"/>
          </a:xfrm>
          <a:prstGeom prst="chevron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70632" y="1828800"/>
            <a:ext cx="1965960" cy="1417320"/>
          </a:xfrm>
          <a:prstGeom prst="roundRect">
            <a:avLst/>
          </a:prstGeom>
          <a:solidFill>
            <a:srgbClr val="E7F2EB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52B4D"/>
                </a:solidFill>
              </a:defRPr>
            </a:pPr>
            <a:r>
              <a:t>CALCULATIONS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Sales • Cost • Profit</a:t>
            </a:r>
          </a:p>
        </p:txBody>
      </p:sp>
      <p:sp>
        <p:nvSpPr>
          <p:cNvPr id="8" name="Chevron 7"/>
          <p:cNvSpPr/>
          <p:nvPr/>
        </p:nvSpPr>
        <p:spPr>
          <a:xfrm>
            <a:off x="4764024" y="2240280"/>
            <a:ext cx="320040" cy="502920"/>
          </a:xfrm>
          <a:prstGeom prst="chevron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9784" y="1828800"/>
            <a:ext cx="1965960" cy="1417320"/>
          </a:xfrm>
          <a:prstGeom prst="roundRect">
            <a:avLst/>
          </a:prstGeom>
          <a:solidFill>
            <a:srgbClr val="F9F1DC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52B4D"/>
                </a:solidFill>
              </a:defRPr>
            </a:pPr>
            <a:r>
              <a:t>PIVOTTABLES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Trends &amp; segments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7123176" y="2240280"/>
            <a:ext cx="320040" cy="502920"/>
          </a:xfrm>
          <a:prstGeom prst="chevron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88936" y="1828800"/>
            <a:ext cx="1965960" cy="1417320"/>
          </a:xfrm>
          <a:prstGeom prst="roundRect">
            <a:avLst/>
          </a:prstGeom>
          <a:solidFill>
            <a:srgbClr val="E2ED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52B4D"/>
                </a:solidFill>
              </a:defRPr>
            </a:pPr>
            <a:r>
              <a:t>PIVOTCHARTS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Visual analysis</a:t>
            </a:r>
          </a:p>
        </p:txBody>
      </p:sp>
      <p:sp>
        <p:nvSpPr>
          <p:cNvPr id="12" name="Chevron 11"/>
          <p:cNvSpPr/>
          <p:nvPr/>
        </p:nvSpPr>
        <p:spPr>
          <a:xfrm>
            <a:off x="9482328" y="2240280"/>
            <a:ext cx="320040" cy="502920"/>
          </a:xfrm>
          <a:prstGeom prst="chevron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48088" y="1828800"/>
            <a:ext cx="1965960" cy="1417320"/>
          </a:xfrm>
          <a:prstGeom prst="roundRect">
            <a:avLst/>
          </a:prstGeom>
          <a:solidFill>
            <a:srgbClr val="E8E5F8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52B4D"/>
                </a:solidFill>
              </a:defRPr>
            </a:pPr>
            <a:r>
              <a:t>DASHBOARD</a:t>
            </a:r>
          </a:p>
          <a:p>
            <a:pPr algn="ctr">
              <a:defRPr sz="1000">
                <a:solidFill>
                  <a:srgbClr val="66707D"/>
                </a:solidFill>
              </a:defRPr>
            </a:pPr>
            <a:r>
              <a:t>KPIs +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Interactive dashboard includes KPI cards, monthly trend, category performance, top products and order-status distribution.</a:t>
            </a:r>
          </a:p>
          <a:p>
            <a:pPr>
              <a:spcAft>
                <a:spcPts val="800"/>
              </a:spcAft>
              <a:defRPr sz="1500">
                <a:solidFill>
                  <a:srgbClr val="202834"/>
                </a:solidFill>
              </a:defRPr>
            </a:pPr>
            <a:r>
              <a:t>• The workbook structure supports refreshable analysis when source data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Project Conclusion</a:t>
            </a:r>
          </a:p>
          <a:p>
            <a:pPr algn="ctr">
              <a:defRPr sz="1900">
                <a:solidFill>
                  <a:srgbClr val="D2DCEB"/>
                </a:solidFill>
              </a:defRPr>
            </a:pPr>
            <a:r>
              <a:t>A complete Excel-based sales analytics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743200"/>
            <a:ext cx="9235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Converted raw e-commerce transactions into structured analytical metrics.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Used PivotTables and PivotCharts to examine trends and business segments.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Built a management-style dashboard with five headline KPIs.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Summarized the analysis into clear, data-backed business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5577840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ECDE1"/>
                </a:solidFill>
              </a:defRPr>
            </a:pPr>
            <a:r>
              <a:t>Microsoft Excel • Data Cleaning • PivotTables • Visualization • Dashboarding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